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24000"/>
            <a:ext cx="57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>
                <a:solidFill>
                  <a:srgbClr val="0D4F4A"/>
                </a:solidFill>
                <a:latin typeface="Consolas"/>
              </a:rPr>
              <a:t>MEDMISSION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56119" y="324000"/>
            <a:ext cx="21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5A6C6A"/>
                </a:solidFill>
                <a:latin typeface="Consolas"/>
              </a:rPr>
              <a:t>01 / 05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76000" y="558000"/>
            <a:ext cx="11040119" cy="0"/>
          </a:xfrm>
          <a:prstGeom prst="line">
            <a:avLst/>
          </a:prstGeom>
          <a:ln w="9525">
            <a:solidFill>
              <a:srgbClr val="D3DA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76000" y="792000"/>
            <a:ext cx="110401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5A6C6A"/>
                </a:solidFill>
                <a:latin typeface="Consolas"/>
              </a:rPr>
              <a:t>결핵 검진 현장 · 태블릿 문진에서 X-RAY 워크리스트까지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1080000"/>
            <a:ext cx="11040119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2211F"/>
                </a:solidFill>
                <a:latin typeface="맑은 고딕"/>
              </a:rPr>
              <a:t>태블릿과 브릿지, 두 프로그램 개요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1764000"/>
            <a:ext cx="720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A6C6A"/>
                </a:solidFill>
                <a:latin typeface="맑은 고딕"/>
              </a:rPr>
              <a:t>태블릿 문진이 랩톱을 거쳐 콘솔 워크리스트로 그대로 올라감.
촬영 담당이 환자 정보를 다시 입력하지 않는 것이 목표.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2340001"/>
            <a:ext cx="216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5A6C6A"/>
                </a:solidFill>
                <a:latin typeface="Consolas"/>
              </a:rPr>
              <a:t>현재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2592000"/>
            <a:ext cx="1872000" cy="54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3DA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00" y="2754000"/>
            <a:ext cx="187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12211F"/>
                </a:solidFill>
                <a:latin typeface="맑은 고딕"/>
              </a:rPr>
              <a:t>종이 문진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2000" y="2592000"/>
            <a:ext cx="2376000" cy="540000"/>
          </a:xfrm>
          <a:prstGeom prst="roundRect">
            <a:avLst>
              <a:gd name="adj" fmla="val 4000"/>
            </a:avLst>
          </a:prstGeom>
          <a:solidFill>
            <a:srgbClr val="F7EEE2"/>
          </a:solidFill>
          <a:ln w="12700">
            <a:solidFill>
              <a:srgbClr val="B065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2000" y="2682000"/>
            <a:ext cx="2376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B0651A"/>
                </a:solidFill>
                <a:latin typeface="맑은 고딕"/>
              </a:rPr>
              <a:t>촬영실에서 재입력</a:t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900" b="0">
                <a:solidFill>
                  <a:srgbClr val="B0651A"/>
                </a:solidFill>
                <a:latin typeface="맑은 고딕"/>
              </a:rPr>
              <a:t>사람 손 · 오타 · 대기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79999" y="2592000"/>
            <a:ext cx="1872000" cy="54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3DA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9999" y="2754000"/>
            <a:ext cx="187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12211F"/>
                </a:solidFill>
                <a:latin typeface="맑은 고딕"/>
              </a:rPr>
              <a:t>촬영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0000" y="2862000"/>
            <a:ext cx="720000" cy="0"/>
          </a:xfrm>
          <a:prstGeom prst="line">
            <a:avLst/>
          </a:prstGeom>
          <a:ln w="15875">
            <a:solidFill>
              <a:srgbClr val="1221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760000" y="2862000"/>
            <a:ext cx="648000" cy="0"/>
          </a:xfrm>
          <a:prstGeom prst="line">
            <a:avLst/>
          </a:prstGeom>
          <a:ln w="15875">
            <a:solidFill>
              <a:srgbClr val="B065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568000" y="2700000"/>
            <a:ext cx="2520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5A6C6A"/>
                </a:solidFill>
                <a:latin typeface="맑은 고딕"/>
              </a:rPr>
              <a:t>문진 내용은 판독까지 가지 못함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00" y="3348001"/>
            <a:ext cx="216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0D4F4A"/>
                </a:solidFill>
                <a:latin typeface="Consolas"/>
              </a:rPr>
              <a:t>변경 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00" y="3600000"/>
            <a:ext cx="1872000" cy="540000"/>
          </a:xfrm>
          <a:prstGeom prst="roundRect">
            <a:avLst>
              <a:gd name="adj" fmla="val 4000"/>
            </a:avLst>
          </a:prstGeom>
          <a:solidFill>
            <a:srgbClr val="E3EDEA"/>
          </a:solidFill>
          <a:ln w="12700">
            <a:solidFill>
              <a:srgbClr val="D3DA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00" y="3762000"/>
            <a:ext cx="187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12211F"/>
                </a:solidFill>
                <a:latin typeface="맑은 고딕"/>
              </a:rPr>
              <a:t>태블릿 문진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12000" y="3600000"/>
            <a:ext cx="2376000" cy="540000"/>
          </a:xfrm>
          <a:prstGeom prst="roundRect">
            <a:avLst>
              <a:gd name="adj" fmla="val 4000"/>
            </a:avLst>
          </a:prstGeom>
          <a:solidFill>
            <a:srgbClr val="E3EDEA"/>
          </a:solidFill>
          <a:ln w="12700">
            <a:solidFill>
              <a:srgbClr val="D3DA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12000" y="3690000"/>
            <a:ext cx="2376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12211F"/>
                </a:solidFill>
                <a:latin typeface="맑은 고딕"/>
              </a:rPr>
              <a:t>랩톱 (브릿지)</a:t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900" b="0">
                <a:solidFill>
                  <a:srgbClr val="5A6C6A"/>
                </a:solidFill>
                <a:latin typeface="맑은 고딕"/>
              </a:rPr>
              <a:t>워크리스트 자동 등재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79999" y="3600000"/>
            <a:ext cx="1872000" cy="54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3DA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9999" y="3762000"/>
            <a:ext cx="187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12211F"/>
                </a:solidFill>
                <a:latin typeface="맑은 고딕"/>
              </a:rPr>
              <a:t>촬영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520000" y="3870000"/>
            <a:ext cx="720000" cy="0"/>
          </a:xfrm>
          <a:prstGeom prst="line">
            <a:avLst/>
          </a:prstGeom>
          <a:ln w="15875">
            <a:solidFill>
              <a:srgbClr val="1221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760000" y="3870000"/>
            <a:ext cx="648000" cy="0"/>
          </a:xfrm>
          <a:prstGeom prst="line">
            <a:avLst/>
          </a:prstGeom>
          <a:ln w="15875">
            <a:solidFill>
              <a:srgbClr val="1221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568000" y="3708000"/>
            <a:ext cx="2520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0D4F4A"/>
                </a:solidFill>
                <a:latin typeface="맑은 고딕"/>
              </a:rPr>
              <a:t>문진 답변은 API로 조회 가능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00" y="4536000"/>
            <a:ext cx="110401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A6C6A"/>
                </a:solidFill>
                <a:latin typeface="맑은 고딕"/>
              </a:rPr>
              <a:t>없애려는 것은 가운데 한 칸 — 촬영실에서 환자 정보를 사람이 다시 입력하는 단계.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6000" y="4896000"/>
            <a:ext cx="3560039" cy="1296000"/>
          </a:xfrm>
          <a:prstGeom prst="roundRect">
            <a:avLst>
              <a:gd name="adj" fmla="val 4000"/>
            </a:avLst>
          </a:prstGeom>
          <a:solidFill>
            <a:srgbClr val="EA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8000" y="5021999"/>
            <a:ext cx="323603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0D4F4A"/>
                </a:solidFill>
                <a:latin typeface="맑은 고딕"/>
              </a:rPr>
              <a:t>전제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8000" y="5256000"/>
            <a:ext cx="3236039" cy="82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5A6C6A"/>
                </a:solidFill>
                <a:latin typeface="맑은 고딕"/>
              </a:rPr>
              <a:t>인터넷 없는 폐쇄망. 브릿지는 서버 불필요 — 랩톱 1대 + 같은 Wi-Fi의 태블릿 몇 대. PACS 서버 PC와 달리 네트워크가 흔들려도 태블릿이 문진을 물고 기다림.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16039" y="4896000"/>
            <a:ext cx="3560039" cy="1296000"/>
          </a:xfrm>
          <a:prstGeom prst="roundRect">
            <a:avLst>
              <a:gd name="adj" fmla="val 4000"/>
            </a:avLst>
          </a:prstGeom>
          <a:solidFill>
            <a:srgbClr val="E3E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78039" y="5021999"/>
            <a:ext cx="323603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0D4F4A"/>
                </a:solidFill>
                <a:latin typeface="맑은 고딕"/>
              </a:rPr>
              <a:t>이 회의의 목적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78039" y="5256000"/>
            <a:ext cx="3236039" cy="82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5A6C6A"/>
                </a:solidFill>
                <a:latin typeface="맑은 고딕"/>
              </a:rPr>
              <a:t>랩톱 SW가 워크리스트를 조회하고, 촬영 영상의 환자 ID로 문진을 가져가는 부분 합의. 매뉴얼과 실사 160건 분석 완료 — 상대 수정 없이 붙는 상태.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56078" y="4896000"/>
            <a:ext cx="3560039" cy="1296000"/>
          </a:xfrm>
          <a:prstGeom prst="roundRect">
            <a:avLst>
              <a:gd name="adj" fmla="val 4000"/>
            </a:avLst>
          </a:prstGeom>
          <a:solidFill>
            <a:srgbClr val="EA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18078" y="5021999"/>
            <a:ext cx="323603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0D4F4A"/>
                </a:solidFill>
                <a:latin typeface="맑은 고딕"/>
              </a:rPr>
              <a:t>브릿지가 하지 않는 것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18078" y="5256000"/>
            <a:ext cx="3236039" cy="82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5A6C6A"/>
                </a:solidFill>
                <a:latin typeface="맑은 고딕"/>
              </a:rPr>
              <a:t>먼저 호출하지 않음. 영상 다루지 않음. 저장하지 않음. 조회당하는 쪽.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24000"/>
            <a:ext cx="57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>
                <a:solidFill>
                  <a:srgbClr val="0D4F4A"/>
                </a:solidFill>
                <a:latin typeface="Consolas"/>
              </a:rPr>
              <a:t>전체 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56119" y="324000"/>
            <a:ext cx="21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5A6C6A"/>
                </a:solidFill>
                <a:latin typeface="Consolas"/>
              </a:rPr>
              <a:t>02 / 05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76000" y="558000"/>
            <a:ext cx="11040119" cy="0"/>
          </a:xfrm>
          <a:prstGeom prst="line">
            <a:avLst/>
          </a:prstGeom>
          <a:ln w="9525">
            <a:solidFill>
              <a:srgbClr val="D3DA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76000" y="756000"/>
            <a:ext cx="11040119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2211F"/>
                </a:solidFill>
                <a:latin typeface="맑은 고딕"/>
              </a:rPr>
              <a:t>랩톱 한 대가 가운데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00" y="2015999"/>
            <a:ext cx="1944000" cy="86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3DA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00" y="2195999"/>
            <a:ext cx="1944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12211F"/>
                </a:solidFill>
                <a:latin typeface="맑은 고딕"/>
              </a:rPr>
              <a:t>태블릿 ×N</a:t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950" b="0">
                <a:solidFill>
                  <a:srgbClr val="5A6C6A"/>
                </a:solidFill>
                <a:latin typeface="맑은 고딕"/>
              </a:rPr>
              <a:t>Android 문진 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0000" y="1655999"/>
            <a:ext cx="2664000" cy="1655999"/>
          </a:xfrm>
          <a:prstGeom prst="roundRect">
            <a:avLst>
              <a:gd name="adj" fmla="val 4000"/>
            </a:avLst>
          </a:prstGeom>
          <a:solidFill>
            <a:srgbClr val="E3EDEA"/>
          </a:solidFill>
          <a:ln w="12700">
            <a:solidFill>
              <a:srgbClr val="D3DA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0" y="1799999"/>
            <a:ext cx="2664000" cy="13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1">
                <a:solidFill>
                  <a:srgbClr val="12211F"/>
                </a:solidFill>
                <a:latin typeface="맑은 고딕"/>
              </a:rPr>
              <a:t>브릿지 (랩톱)</a:t>
            </a:r>
          </a:p>
          <a:p>
            <a:pPr algn="ctr">
              <a:lnSpc>
                <a:spcPct val="125000"/>
              </a:lnSpc>
              <a:spcBef>
                <a:spcPts val="800"/>
              </a:spcBef>
            </a:pPr>
            <a:r>
              <a:rPr sz="950" b="0">
                <a:solidFill>
                  <a:srgbClr val="5A6C6A"/>
                </a:solidFill>
                <a:latin typeface="맑은 고딕"/>
              </a:rPr>
              <a:t>문진 수신 API · SQLite</a:t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950" b="0">
                <a:solidFill>
                  <a:srgbClr val="5A6C6A"/>
                </a:solidFill>
                <a:latin typeface="맑은 고딕"/>
              </a:rPr>
              <a:t>DICOM MWL SCP</a:t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950" b="0">
                <a:solidFill>
                  <a:srgbClr val="5A6C6A"/>
                </a:solidFill>
                <a:latin typeface="맑은 고딕"/>
              </a:rPr>
              <a:t>MPPS SCP</a:t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950" b="0">
                <a:solidFill>
                  <a:srgbClr val="5A6C6A"/>
                </a:solidFill>
                <a:latin typeface="맑은 고딕"/>
              </a:rPr>
              <a:t>관리 화면 · mDNS 광고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44000" y="1655999"/>
            <a:ext cx="2304000" cy="165599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B065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44000" y="1799999"/>
            <a:ext cx="2304000" cy="13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1">
                <a:solidFill>
                  <a:srgbClr val="B0651A"/>
                </a:solidFill>
                <a:latin typeface="맑은 고딕"/>
              </a:rPr>
              <a:t>MDVizio-X AI</a:t>
            </a:r>
          </a:p>
          <a:p>
            <a:pPr algn="ctr">
              <a:lnSpc>
                <a:spcPct val="125000"/>
              </a:lnSpc>
              <a:spcBef>
                <a:spcPts val="800"/>
              </a:spcBef>
            </a:pPr>
            <a:r>
              <a:rPr sz="950" b="0">
                <a:solidFill>
                  <a:srgbClr val="B0651A"/>
                </a:solidFill>
                <a:latin typeface="맑은 고딕"/>
              </a:rPr>
              <a:t>MWL SCU · 촬영 · AI 판독</a:t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950" b="0">
                <a:solidFill>
                  <a:srgbClr val="B0651A"/>
                </a:solidFill>
                <a:latin typeface="맑은 고딕"/>
              </a:rPr>
              <a:t>MPPS SCU · PACS SCU</a:t>
            </a:r>
          </a:p>
          <a:p>
            <a:pPr algn="ctr">
              <a:lnSpc>
                <a:spcPct val="125000"/>
              </a:lnSpc>
              <a:spcBef>
                <a:spcPts val="800"/>
              </a:spcBef>
            </a:pPr>
            <a:r>
              <a:rPr sz="900" b="0">
                <a:solidFill>
                  <a:srgbClr val="5A6C6A"/>
                </a:solidFill>
                <a:latin typeface="맑은 고딕"/>
              </a:rPr>
              <a:t>콘솔과 판독 SW가 같은 프로그램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56000" y="2447999"/>
            <a:ext cx="1008000" cy="0"/>
          </a:xfrm>
          <a:prstGeom prst="line">
            <a:avLst/>
          </a:prstGeom>
          <a:ln w="15875">
            <a:solidFill>
              <a:srgbClr val="1221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520000" y="2195999"/>
            <a:ext cx="108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>
                <a:solidFill>
                  <a:srgbClr val="5A6C6A"/>
                </a:solidFill>
                <a:latin typeface="맑은 고딕"/>
              </a:rPr>
              <a:t>문진 전송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6300000" y="2159998"/>
            <a:ext cx="1008000" cy="0"/>
          </a:xfrm>
          <a:prstGeom prst="line">
            <a:avLst/>
          </a:prstGeom>
          <a:ln w="15875">
            <a:solidFill>
              <a:srgbClr val="B065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36000" y="1907998"/>
            <a:ext cx="93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>
                <a:solidFill>
                  <a:srgbClr val="B0651A"/>
                </a:solidFill>
                <a:latin typeface="맑은 고딕"/>
              </a:rPr>
              <a:t>C-FIND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300000" y="2807999"/>
            <a:ext cx="1008000" cy="0"/>
          </a:xfrm>
          <a:prstGeom prst="line">
            <a:avLst/>
          </a:prstGeom>
          <a:ln w="15875">
            <a:solidFill>
              <a:srgbClr val="B0651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336000" y="2879999"/>
            <a:ext cx="93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>
                <a:solidFill>
                  <a:srgbClr val="B0651A"/>
                </a:solidFill>
                <a:latin typeface="맑은 고딕"/>
              </a:rPr>
              <a:t>MPPS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00" y="3528000"/>
            <a:ext cx="11040119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A6C6A"/>
                </a:solidFill>
                <a:latin typeface="맑은 고딕"/>
              </a:rPr>
              <a:t>브릿지는 먼저 연결하지 않음. 태블릿이 밀어 넣고, MDVizio-X가 가져감. 점선은 MDVizio-X가 보내오는 방향.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00" y="4068000"/>
            <a:ext cx="5412059" cy="1224000"/>
          </a:xfrm>
          <a:prstGeom prst="roundRect">
            <a:avLst>
              <a:gd name="adj" fmla="val 4000"/>
            </a:avLst>
          </a:prstGeom>
          <a:solidFill>
            <a:srgbClr val="EA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8000" y="4193999"/>
            <a:ext cx="508805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0D4F4A"/>
                </a:solidFill>
                <a:latin typeface="맑은 고딕"/>
              </a:rPr>
              <a:t>태블릿 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8000" y="4428000"/>
            <a:ext cx="5088059" cy="75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5A6C6A"/>
                </a:solidFill>
                <a:latin typeface="맑은 고딕"/>
              </a:rPr>
              <a:t>7개 섹션 문진, 입력 중 자동 저장. 모든 기록을 태블릿 DB에 먼저 저장하므로 Wi-Fi가 끊겨도 접수 계속 가능. 브릿지는 mDNS로 자동 탐색, 전송 실패 건은 15분 주기 재시도.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4059" y="4068000"/>
            <a:ext cx="5412059" cy="1224000"/>
          </a:xfrm>
          <a:prstGeom prst="roundRect">
            <a:avLst>
              <a:gd name="adj" fmla="val 4000"/>
            </a:avLst>
          </a:prstGeom>
          <a:solidFill>
            <a:srgbClr val="EA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6059" y="4193999"/>
            <a:ext cx="508805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0D4F4A"/>
                </a:solidFill>
                <a:latin typeface="맑은 고딕"/>
              </a:rPr>
              <a:t>브릿지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6059" y="4428000"/>
            <a:ext cx="5088059" cy="75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5A6C6A"/>
                </a:solidFill>
                <a:latin typeface="맑은 고딕"/>
              </a:rPr>
              <a:t>폴더 복사 후 실행 파일 하나. .NET 설치·DB 서버 불필요. MDVizio-X에는 워크리스트로, HTTP를 부를 수 있는 쪽에는 REST로 내어줌. 관리 화면은 그 랩톱 본체에서만 열림.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00" y="5472000"/>
            <a:ext cx="110401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0D4F4A"/>
                </a:solidFill>
                <a:latin typeface="Consolas"/>
              </a:rPr>
              <a:t>Android 8.0+     서명 릴리스 APK     .NET 9 단일 exe     SQLite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24000"/>
            <a:ext cx="57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>
                <a:solidFill>
                  <a:srgbClr val="0D4F4A"/>
                </a:solidFill>
                <a:latin typeface="Consolas"/>
              </a:rPr>
              <a:t>흐름과 상태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56119" y="324000"/>
            <a:ext cx="21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5A6C6A"/>
                </a:solidFill>
                <a:latin typeface="Consolas"/>
              </a:rPr>
              <a:t>03 / 05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76000" y="558000"/>
            <a:ext cx="11040119" cy="0"/>
          </a:xfrm>
          <a:prstGeom prst="line">
            <a:avLst/>
          </a:prstGeom>
          <a:ln w="9525">
            <a:solidFill>
              <a:srgbClr val="D3DA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76000" y="756000"/>
            <a:ext cx="11040119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2211F"/>
                </a:solidFill>
                <a:latin typeface="맑은 고딕"/>
              </a:rPr>
              <a:t>언제 워크리스트에 오르고, 언제 내려가는가</a:t>
            </a:r>
          </a:p>
        </p:txBody>
      </p:sp>
      <p:sp>
        <p:nvSpPr>
          <p:cNvPr id="6" name="Oval 5"/>
          <p:cNvSpPr/>
          <p:nvPr/>
        </p:nvSpPr>
        <p:spPr>
          <a:xfrm>
            <a:off x="1615211" y="1944000"/>
            <a:ext cx="129600" cy="129600"/>
          </a:xfrm>
          <a:prstGeom prst="ellipse">
            <a:avLst/>
          </a:prstGeom>
          <a:solidFill>
            <a:srgbClr val="122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00" y="1584000"/>
            <a:ext cx="2208023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12211F"/>
                </a:solidFill>
                <a:latin typeface="맑은 고딕"/>
              </a:rPr>
              <a:t>1 · 문진 작성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2160000"/>
            <a:ext cx="2208023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>
                <a:solidFill>
                  <a:srgbClr val="5A6C6A"/>
                </a:solidFill>
                <a:latin typeface="맑은 고딕"/>
              </a:rPr>
              <a:t>태블릿 · 번호 자동 부여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788011" y="2008800"/>
            <a:ext cx="1992023" cy="0"/>
          </a:xfrm>
          <a:prstGeom prst="line">
            <a:avLst/>
          </a:prstGeom>
          <a:ln w="15875">
            <a:solidFill>
              <a:srgbClr val="5A6C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3823234" y="1944000"/>
            <a:ext cx="129600" cy="129600"/>
          </a:xfrm>
          <a:prstGeom prst="ellipse">
            <a:avLst/>
          </a:prstGeom>
          <a:solidFill>
            <a:srgbClr val="122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4023" y="1584000"/>
            <a:ext cx="2208023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12211F"/>
                </a:solidFill>
                <a:latin typeface="맑은 고딕"/>
              </a:rPr>
              <a:t>2 · 랩톱 전송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4023" y="2160000"/>
            <a:ext cx="2208023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>
                <a:solidFill>
                  <a:srgbClr val="5A6C6A"/>
                </a:solidFill>
                <a:latin typeface="맑은 고딕"/>
              </a:rPr>
              <a:t>실패 시 자동 재시도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6034" y="2008800"/>
            <a:ext cx="1992023" cy="0"/>
          </a:xfrm>
          <a:prstGeom prst="line">
            <a:avLst/>
          </a:prstGeom>
          <a:ln w="15875">
            <a:solidFill>
              <a:srgbClr val="5A6C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6031257" y="1944000"/>
            <a:ext cx="129600" cy="129600"/>
          </a:xfrm>
          <a:prstGeom prst="ellipse">
            <a:avLst/>
          </a:prstGeom>
          <a:solidFill>
            <a:srgbClr val="B06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92046" y="1584000"/>
            <a:ext cx="2208023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B0651A"/>
                </a:solidFill>
                <a:latin typeface="맑은 고딕"/>
              </a:rPr>
              <a:t>3 · 워크리스트 등재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92046" y="2160000"/>
            <a:ext cx="2208023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>
                <a:solidFill>
                  <a:srgbClr val="5A6C6A"/>
                </a:solidFill>
                <a:latin typeface="맑은 고딕"/>
              </a:rPr>
              <a:t>콘솔이 C-FIND 조회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04057" y="2008800"/>
            <a:ext cx="1992023" cy="0"/>
          </a:xfrm>
          <a:prstGeom prst="line">
            <a:avLst/>
          </a:prstGeom>
          <a:ln w="15875">
            <a:solidFill>
              <a:srgbClr val="5A6C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8239280" y="1944000"/>
            <a:ext cx="129600" cy="129600"/>
          </a:xfrm>
          <a:prstGeom prst="ellipse">
            <a:avLst/>
          </a:prstGeom>
          <a:solidFill>
            <a:srgbClr val="B06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00069" y="1584000"/>
            <a:ext cx="2208023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B0651A"/>
                </a:solidFill>
                <a:latin typeface="맑은 고딕"/>
              </a:rPr>
              <a:t>4 · 촬영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0069" y="2160000"/>
            <a:ext cx="2208023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>
                <a:solidFill>
                  <a:srgbClr val="5A6C6A"/>
                </a:solidFill>
                <a:latin typeface="맑은 고딕"/>
              </a:rPr>
              <a:t>영상의 환자 ID로 문진 조회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412080" y="2008800"/>
            <a:ext cx="1992023" cy="0"/>
          </a:xfrm>
          <a:prstGeom prst="line">
            <a:avLst/>
          </a:prstGeom>
          <a:ln w="15875">
            <a:solidFill>
              <a:srgbClr val="5A6C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10447303" y="1944000"/>
            <a:ext cx="129600" cy="129600"/>
          </a:xfrm>
          <a:prstGeom prst="ellipse">
            <a:avLst/>
          </a:prstGeom>
          <a:solidFill>
            <a:srgbClr val="122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08092" y="1584000"/>
            <a:ext cx="2208023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12211F"/>
                </a:solidFill>
                <a:latin typeface="맑은 고딕"/>
              </a:rPr>
              <a:t>5 · 완료 처리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08092" y="2160000"/>
            <a:ext cx="2208023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>
                <a:solidFill>
                  <a:srgbClr val="5A6C6A"/>
                </a:solidFill>
                <a:latin typeface="맑은 고딕"/>
              </a:rPr>
              <a:t>MPPS면 자동, 아니면 수동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16057" y="3096000"/>
            <a:ext cx="4776046" cy="684000"/>
          </a:xfrm>
          <a:prstGeom prst="roundRect">
            <a:avLst>
              <a:gd name="adj" fmla="val 4000"/>
            </a:avLst>
          </a:prstGeom>
          <a:solidFill>
            <a:srgbClr val="E3EDEA"/>
          </a:solidFill>
          <a:ln w="12700">
            <a:solidFill>
              <a:srgbClr val="D3DA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16057" y="3204000"/>
            <a:ext cx="4776046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12211F"/>
                </a:solidFill>
                <a:latin typeface="맑은 고딕"/>
              </a:rPr>
              <a:t>워크리스트에 노출되는 구간</a:t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950" b="0">
                <a:solidFill>
                  <a:srgbClr val="5A6C6A"/>
                </a:solidFill>
                <a:latin typeface="Consolas"/>
              </a:rPr>
              <a:t>Received · InProgress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6000" y="3096000"/>
            <a:ext cx="4416046" cy="68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3DA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6000" y="3204000"/>
            <a:ext cx="4416046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5A6C6A"/>
                </a:solidFill>
                <a:latin typeface="맑은 고딕"/>
              </a:rPr>
              <a:t>아직 랩톱에 없음</a:t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900" b="0">
                <a:solidFill>
                  <a:srgbClr val="5A6C6A"/>
                </a:solidFill>
                <a:latin typeface="맑은 고딕"/>
              </a:rPr>
              <a:t>태블릿에만 보관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00" y="3960000"/>
            <a:ext cx="11040119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A6C6A"/>
                </a:solidFill>
                <a:latin typeface="맑은 고딕"/>
              </a:rPr>
              <a:t>5번 이후 상태 — Completed · Cancelled. 워크리스트에서 제외되나 목록에는 잔존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000" b="0">
                <a:solidFill>
                  <a:srgbClr val="B0651A"/>
                </a:solidFill>
                <a:latin typeface="맑은 고딕"/>
              </a:rPr>
              <a:t>실사 160건은 전부 IN PROGRESS로 남아 있었음 — 완료 처리가 한 번도 되지 않았다는 뜻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76000" y="4752000"/>
            <a:ext cx="5412059" cy="1152000"/>
          </a:xfrm>
          <a:prstGeom prst="roundRect">
            <a:avLst>
              <a:gd name="adj" fmla="val 4000"/>
            </a:avLst>
          </a:prstGeom>
          <a:solidFill>
            <a:srgbClr val="F7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8000" y="4877999"/>
            <a:ext cx="508805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B0651A"/>
                </a:solidFill>
                <a:latin typeface="맑은 고딕"/>
              </a:rPr>
              <a:t>150명 규모에서 생기는 문제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8000" y="5112000"/>
            <a:ext cx="5088059" cy="6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5A6C6A"/>
                </a:solidFill>
                <a:latin typeface="맑은 고딕"/>
              </a:rPr>
              <a:t>완료 처리가 밀리면 목록이 하루 종일 누적. 눈앞 환자를 긴 목록에서 찾아야 함.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04059" y="4752000"/>
            <a:ext cx="5412059" cy="1152000"/>
          </a:xfrm>
          <a:prstGeom prst="roundRect">
            <a:avLst>
              <a:gd name="adj" fmla="val 4000"/>
            </a:avLst>
          </a:prstGeom>
          <a:solidFill>
            <a:srgbClr val="E3E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6059" y="4877999"/>
            <a:ext cx="508805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0D4F4A"/>
                </a:solidFill>
                <a:latin typeface="맑은 고딕"/>
              </a:rPr>
              <a:t>해법 — MPPS · 구현 완료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6059" y="5112000"/>
            <a:ext cx="5088059" cy="6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5A6C6A"/>
                </a:solidFill>
                <a:latin typeface="맑은 고딕"/>
              </a:rPr>
              <a:t>MDVizio-X가 촬영 시작·완료를 브릿지에 알려주면 상태가 자동 변경. 설정에서 MPPS 주소만 지정하면 됨 — 워크리스트와 같은 포트·AE.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24000"/>
            <a:ext cx="57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>
                <a:solidFill>
                  <a:srgbClr val="0D4F4A"/>
                </a:solidFill>
                <a:latin typeface="Consolas"/>
              </a:rPr>
              <a:t>연동 지점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56119" y="324000"/>
            <a:ext cx="21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5A6C6A"/>
                </a:solidFill>
                <a:latin typeface="Consolas"/>
              </a:rPr>
              <a:t>04 / 05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76000" y="558000"/>
            <a:ext cx="11040119" cy="0"/>
          </a:xfrm>
          <a:prstGeom prst="line">
            <a:avLst/>
          </a:prstGeom>
          <a:ln w="9525">
            <a:solidFill>
              <a:srgbClr val="D3DA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76000" y="756000"/>
            <a:ext cx="11040119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2211F"/>
                </a:solidFill>
                <a:latin typeface="맑은 고딕"/>
              </a:rPr>
              <a:t>표준 C-FIND로 목록, 문진 전량은 DICOM에 동봉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1512000"/>
            <a:ext cx="537605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5A6C6A"/>
                </a:solidFill>
                <a:latin typeface="Consolas"/>
              </a:rPr>
              <a:t>A · DICOM 워크리스트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76000" y="1728000"/>
          <a:ext cx="5376058" cy="15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0338"/>
                <a:gridCol w="3655720"/>
              </a:tblGrid>
              <a:tr h="22320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5A6C6A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marL="72000" marR="72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5A6C6A"/>
                          </a:solidFill>
                          <a:latin typeface="맑은 고딕"/>
                        </a:rPr>
                        <a:t>값</a:t>
                      </a:r>
                    </a:p>
                  </a:txBody>
                  <a:tcPr marL="72000" marR="72000" marT="28800" marB="28800" anchor="ctr">
                    <a:solidFill>
                      <a:srgbClr val="FFFFFF"/>
                    </a:solidFill>
                  </a:tcPr>
                </a:tc>
              </a:tr>
              <a:tr h="22320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2211F"/>
                          </a:solidFill>
                          <a:latin typeface="맑은 고딕"/>
                        </a:rPr>
                        <a:t>AE Title</a:t>
                      </a:r>
                    </a:p>
                  </a:txBody>
                  <a:tcPr marL="72000" marR="72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2211F"/>
                          </a:solidFill>
                          <a:latin typeface="Consolas"/>
                        </a:rPr>
                        <a:t>MEDMISSION · 검사 안 함</a:t>
                      </a:r>
                    </a:p>
                  </a:txBody>
                  <a:tcPr marL="72000" marR="72000" marT="28800" marB="28800" anchor="ctr">
                    <a:solidFill>
                      <a:srgbClr val="FFFFFF"/>
                    </a:solidFill>
                  </a:tcPr>
                </a:tc>
              </a:tr>
              <a:tr h="22320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2211F"/>
                          </a:solidFill>
                          <a:latin typeface="맑은 고딕"/>
                        </a:rPr>
                        <a:t>포트</a:t>
                      </a:r>
                    </a:p>
                  </a:txBody>
                  <a:tcPr marL="72000" marR="72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2211F"/>
                          </a:solidFill>
                          <a:latin typeface="맑은 고딕"/>
                        </a:rPr>
                        <a:t>11112 · 랩톱별 상이 · MPPS 동일</a:t>
                      </a:r>
                    </a:p>
                  </a:txBody>
                  <a:tcPr marL="72000" marR="72000" marT="28800" marB="28800" anchor="ctr">
                    <a:solidFill>
                      <a:srgbClr val="FFFFFF"/>
                    </a:solidFill>
                  </a:tcPr>
                </a:tc>
              </a:tr>
              <a:tr h="22320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2211F"/>
                          </a:solidFill>
                          <a:latin typeface="맑은 고딕"/>
                        </a:rPr>
                        <a:t>지원</a:t>
                      </a:r>
                    </a:p>
                  </a:txBody>
                  <a:tcPr marL="72000" marR="72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2211F"/>
                          </a:solidFill>
                          <a:latin typeface="Consolas"/>
                        </a:rPr>
                        <a:t>C-ECHO, MWL C-FIND, MPPS</a:t>
                      </a:r>
                    </a:p>
                  </a:txBody>
                  <a:tcPr marL="72000" marR="72000" marT="28800" marB="28800" anchor="ctr">
                    <a:solidFill>
                      <a:srgbClr val="FFFFFF"/>
                    </a:solidFill>
                  </a:tcPr>
                </a:tc>
              </a:tr>
              <a:tr h="22320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2211F"/>
                          </a:solidFill>
                          <a:latin typeface="맑은 고딕"/>
                        </a:rPr>
                        <a:t>Modality</a:t>
                      </a:r>
                    </a:p>
                  </a:txBody>
                  <a:tcPr marL="72000" marR="72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2211F"/>
                          </a:solidFill>
                          <a:latin typeface="맑은 고딕"/>
                        </a:rPr>
                        <a:t>DX · 실사 160건 근거</a:t>
                      </a:r>
                    </a:p>
                  </a:txBody>
                  <a:tcPr marL="72000" marR="72000" marT="28800" marB="28800" anchor="ctr">
                    <a:solidFill>
                      <a:srgbClr val="FFFFFF"/>
                    </a:solidFill>
                  </a:tcPr>
                </a:tc>
              </a:tr>
              <a:tr h="22320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2211F"/>
                          </a:solidFill>
                          <a:latin typeface="맑은 고딕"/>
                        </a:rPr>
                        <a:t>문자셋</a:t>
                      </a:r>
                    </a:p>
                  </a:txBody>
                  <a:tcPr marL="72000" marR="72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2211F"/>
                          </a:solidFill>
                          <a:latin typeface="Consolas"/>
                        </a:rPr>
                        <a:t>ISO_IR 192 · 상대는 IR 149</a:t>
                      </a:r>
                    </a:p>
                  </a:txBody>
                  <a:tcPr marL="72000" marR="72000" marT="28800" marB="28800" anchor="ctr">
                    <a:solidFill>
                      <a:srgbClr val="FFFFFF"/>
                    </a:solidFill>
                  </a:tcPr>
                </a:tc>
              </a:tr>
              <a:tr h="22320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2211F"/>
                          </a:solidFill>
                          <a:latin typeface="맑은 고딕"/>
                        </a:rPr>
                        <a:t>조회 키</a:t>
                      </a:r>
                    </a:p>
                  </a:txBody>
                  <a:tcPr marL="72000" marR="72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2211F"/>
                          </a:solidFill>
                          <a:latin typeface="맑은 고딕"/>
                        </a:rPr>
                        <a:t>Patient ID, Name, Accession, Date</a:t>
                      </a:r>
                    </a:p>
                  </a:txBody>
                  <a:tcPr marL="72000" marR="72000" marT="28800" marB="28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76000" y="3491999"/>
            <a:ext cx="5376059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5A6C6A"/>
                </a:solidFill>
                <a:latin typeface="맑은 고딕"/>
              </a:rPr>
              <a:t>표에 없는 조회 키는 거부하지 않고 무시. 이름·접수번호는 와일드카드와 대소문자 무시 — 문진지 번호를 손으로 치는 동선이라 관대하게 처리. Windows가 11112를 예약한 랩톱은 12112 등으로 바뀌므로 포트는 현장 확인 필요.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0059" y="1512000"/>
            <a:ext cx="537605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5A6C6A"/>
                </a:solidFill>
                <a:latin typeface="Consolas"/>
              </a:rPr>
              <a:t>B · 문진 전량 · 워크리스트에 동봉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40059" y="1728000"/>
          <a:ext cx="5376058" cy="133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7944"/>
                <a:gridCol w="3118114"/>
              </a:tblGrid>
              <a:tr h="22320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5A6C6A"/>
                          </a:solidFill>
                          <a:latin typeface="맑은 고딕"/>
                        </a:rPr>
                        <a:t>층</a:t>
                      </a:r>
                    </a:p>
                  </a:txBody>
                  <a:tcPr marL="72000" marR="72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5A6C6A"/>
                          </a:solidFill>
                          <a:latin typeface="맑은 고딕"/>
                        </a:rPr>
                        <a:t>위치</a:t>
                      </a:r>
                    </a:p>
                  </a:txBody>
                  <a:tcPr marL="72000" marR="72000" marT="28800" marB="28800" anchor="ctr">
                    <a:solidFill>
                      <a:srgbClr val="FFFFFF"/>
                    </a:solidFill>
                  </a:tcPr>
                </a:tc>
              </a:tr>
              <a:tr h="22320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2211F"/>
                          </a:solidFill>
                          <a:latin typeface="맑은 고딕"/>
                        </a:rPr>
                        <a:t>표준 태그</a:t>
                      </a:r>
                    </a:p>
                  </a:txBody>
                  <a:tcPr marL="72000" marR="72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2211F"/>
                          </a:solidFill>
                          <a:latin typeface="맑은 고딕"/>
                        </a:rPr>
                        <a:t>전화 · 키 · 몸무게 · 흡연</a:t>
                      </a:r>
                    </a:p>
                  </a:txBody>
                  <a:tcPr marL="72000" marR="72000" marT="28800" marB="28800" anchor="ctr">
                    <a:solidFill>
                      <a:srgbClr val="FFFFFF"/>
                    </a:solidFill>
                  </a:tcPr>
                </a:tc>
              </a:tr>
              <a:tr h="22320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2211F"/>
                          </a:solidFill>
                          <a:latin typeface="맑은 고딕"/>
                        </a:rPr>
                        <a:t>판독용 텍스트</a:t>
                      </a:r>
                    </a:p>
                  </a:txBody>
                  <a:tcPr marL="72000" marR="72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2211F"/>
                          </a:solidFill>
                          <a:latin typeface="Consolas"/>
                        </a:rPr>
                        <a:t>(0010,21B0) 전 항목</a:t>
                      </a:r>
                    </a:p>
                  </a:txBody>
                  <a:tcPr marL="72000" marR="72000" marT="28800" marB="28800" anchor="ctr">
                    <a:solidFill>
                      <a:srgbClr val="FFFFFF"/>
                    </a:solidFill>
                  </a:tcPr>
                </a:tc>
              </a:tr>
              <a:tr h="22320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2211F"/>
                          </a:solidFill>
                          <a:latin typeface="맑은 고딕"/>
                        </a:rPr>
                        <a:t>JSON 원문</a:t>
                      </a:r>
                    </a:p>
                  </a:txBody>
                  <a:tcPr marL="72000" marR="72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2211F"/>
                          </a:solidFill>
                          <a:latin typeface="Consolas"/>
                        </a:rPr>
                        <a:t>(1001,xx31) UT</a:t>
                      </a:r>
                    </a:p>
                  </a:txBody>
                  <a:tcPr marL="72000" marR="72000" marT="28800" marB="28800" anchor="ctr">
                    <a:solidFill>
                      <a:srgbClr val="FFFFFF"/>
                    </a:solidFill>
                  </a:tcPr>
                </a:tc>
              </a:tr>
              <a:tr h="22320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2211F"/>
                          </a:solidFill>
                          <a:latin typeface="맑은 고딕"/>
                        </a:rPr>
                        <a:t>항목별 name/value</a:t>
                      </a:r>
                    </a:p>
                  </a:txBody>
                  <a:tcPr marL="72000" marR="72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2211F"/>
                          </a:solidFill>
                          <a:latin typeface="Consolas"/>
                        </a:rPr>
                        <a:t>(1001,xx40) SQ</a:t>
                      </a:r>
                    </a:p>
                  </a:txBody>
                  <a:tcPr marL="72000" marR="72000" marT="28800" marB="28800" anchor="ctr">
                    <a:solidFill>
                      <a:srgbClr val="FFFFFF"/>
                    </a:solidFill>
                  </a:tcPr>
                </a:tc>
              </a:tr>
              <a:tr h="22320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2211F"/>
                          </a:solidFill>
                          <a:latin typeface="맑은 고딕"/>
                        </a:rPr>
                        <a:t>식별자</a:t>
                      </a:r>
                    </a:p>
                  </a:txBody>
                  <a:tcPr marL="72000" marR="72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2211F"/>
                          </a:solidFill>
                          <a:latin typeface="맑은 고딕"/>
                        </a:rPr>
                        <a:t>recordId = Patient ID</a:t>
                      </a:r>
                    </a:p>
                  </a:txBody>
                  <a:tcPr marL="72000" marR="72000" marT="28800" marB="28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40059" y="3276000"/>
            <a:ext cx="5376059" cy="10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5A6C6A"/>
                </a:solidFill>
                <a:latin typeface="맑은 고딕"/>
              </a:rPr>
              <a:t>MDVizio-X에 HTTP 클라이언트가 없어 REST를 못 씀. 그래서 문진 전 항목을 DICOM에 실어 보냄. 사설 블록은 상대가 AI 결과를 쓰는 (1001) MDAI_PRIVATE_CREATOR 그대로 — 요소 30번대. 상대 수정 0.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00" y="4680000"/>
            <a:ext cx="5376059" cy="1224000"/>
          </a:xfrm>
          <a:prstGeom prst="roundRect">
            <a:avLst>
              <a:gd name="adj" fmla="val 4000"/>
            </a:avLst>
          </a:prstGeom>
          <a:solidFill>
            <a:srgbClr val="E3E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8000" y="4805999"/>
            <a:ext cx="505205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0D4F4A"/>
                </a:solidFill>
                <a:latin typeface="맑은 고딕"/>
              </a:rPr>
              <a:t>매칭은 Patient ID로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8000" y="5040000"/>
            <a:ext cx="5052059" cy="75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5A6C6A"/>
                </a:solidFill>
                <a:latin typeface="맑은 고딕"/>
              </a:rPr>
              <a:t>recordId = Patient ID (0010,0020) · UUID · 항상 존재하고 유일. 영상에서 이 값을 읽어 문진을 조회하는 것이 권장 경로.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0059" y="4680000"/>
            <a:ext cx="5376059" cy="1224000"/>
          </a:xfrm>
          <a:prstGeom prst="roundRect">
            <a:avLst>
              <a:gd name="adj" fmla="val 4000"/>
            </a:avLst>
          </a:prstGeom>
          <a:solidFill>
            <a:srgbClr val="F7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2059" y="4805999"/>
            <a:ext cx="505205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B0651A"/>
                </a:solidFill>
                <a:latin typeface="맑은 고딕"/>
              </a:rPr>
              <a:t>매칭 기준으로 부적합한 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2059" y="5040000"/>
            <a:ext cx="5052059" cy="75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5A6C6A"/>
                </a:solidFill>
                <a:latin typeface="맑은 고딕"/>
              </a:rPr>
              <a:t>no = Accession Number는 비거나 겹칠 수 있음. 환자 이름도 비어 있을 수 있음. 전 구간 평문 HTTP — 폐쇄망 전제로 TLS 보류 중.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24000"/>
            <a:ext cx="57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>
                <a:solidFill>
                  <a:srgbClr val="0D4F4A"/>
                </a:solidFill>
                <a:latin typeface="Consolas"/>
              </a:rPr>
              <a:t>현황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56119" y="324000"/>
            <a:ext cx="21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5A6C6A"/>
                </a:solidFill>
                <a:latin typeface="Consolas"/>
              </a:rPr>
              <a:t>05 / 05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76000" y="558000"/>
            <a:ext cx="11040119" cy="0"/>
          </a:xfrm>
          <a:prstGeom prst="line">
            <a:avLst/>
          </a:prstGeom>
          <a:ln w="9525">
            <a:solidFill>
              <a:srgbClr val="D3DA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76000" y="756000"/>
            <a:ext cx="11040119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2211F"/>
                </a:solidFill>
                <a:latin typeface="맑은 고딕"/>
              </a:rPr>
              <a:t>현재 상태와 다음 단계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76000" y="1440000"/>
          <a:ext cx="11040118" cy="267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82466"/>
                <a:gridCol w="2428826"/>
                <a:gridCol w="2428826"/>
              </a:tblGrid>
              <a:tr h="2232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5A6C6A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marL="72000" marR="72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5A6C6A"/>
                          </a:solidFill>
                          <a:latin typeface="맑은 고딕"/>
                        </a:rPr>
                        <a:t>담당</a:t>
                      </a:r>
                    </a:p>
                  </a:txBody>
                  <a:tcPr marL="72000" marR="72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5A6C6A"/>
                          </a:solidFill>
                          <a:latin typeface="맑은 고딕"/>
                        </a:rPr>
                        <a:t>상태</a:t>
                      </a:r>
                    </a:p>
                  </a:txBody>
                  <a:tcPr marL="72000" marR="72000" marT="28800" marB="28800" anchor="ctr">
                    <a:solidFill>
                      <a:srgbClr val="FFFFFF"/>
                    </a:solidFill>
                  </a:tcPr>
                </a:tc>
              </a:tr>
              <a:tr h="22320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11F"/>
                          </a:solidFill>
                          <a:latin typeface="맑은 고딕"/>
                        </a:rPr>
                        <a:t>태블릿 앱 · 서명 APK</a:t>
                      </a:r>
                    </a:p>
                  </a:txBody>
                  <a:tcPr marL="72000" marR="72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11F"/>
                          </a:solidFill>
                          <a:latin typeface="맑은 고딕"/>
                        </a:rPr>
                        <a:t>브릿지 팀</a:t>
                      </a:r>
                    </a:p>
                  </a:txBody>
                  <a:tcPr marL="72000" marR="72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D4F4A"/>
                          </a:solidFill>
                          <a:latin typeface="맑은 고딕"/>
                        </a:rPr>
                        <a:t>완료</a:t>
                      </a:r>
                    </a:p>
                  </a:txBody>
                  <a:tcPr marL="72000" marR="72000" marT="28800" marB="28800" anchor="ctr">
                    <a:solidFill>
                      <a:srgbClr val="FFFFFF"/>
                    </a:solidFill>
                  </a:tcPr>
                </a:tc>
              </a:tr>
              <a:tr h="22320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11F"/>
                          </a:solidFill>
                          <a:latin typeface="맑은 고딕"/>
                        </a:rPr>
                        <a:t>브릿지 단일 실행 파일 · 배포본</a:t>
                      </a:r>
                    </a:p>
                  </a:txBody>
                  <a:tcPr marL="72000" marR="72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11F"/>
                          </a:solidFill>
                          <a:latin typeface="맑은 고딕"/>
                        </a:rPr>
                        <a:t>브릿지 팀</a:t>
                      </a:r>
                    </a:p>
                  </a:txBody>
                  <a:tcPr marL="72000" marR="72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D4F4A"/>
                          </a:solidFill>
                          <a:latin typeface="맑은 고딕"/>
                        </a:rPr>
                        <a:t>완료</a:t>
                      </a:r>
                    </a:p>
                  </a:txBody>
                  <a:tcPr marL="72000" marR="72000" marT="28800" marB="28800" anchor="ctr">
                    <a:solidFill>
                      <a:srgbClr val="FFFFFF"/>
                    </a:solidFill>
                  </a:tcPr>
                </a:tc>
              </a:tr>
              <a:tr h="22320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11F"/>
                          </a:solidFill>
                          <a:latin typeface="맑은 고딕"/>
                        </a:rPr>
                        <a:t>문진 전송 · 워크리스트 조회 검증</a:t>
                      </a:r>
                    </a:p>
                  </a:txBody>
                  <a:tcPr marL="72000" marR="72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11F"/>
                          </a:solidFill>
                          <a:latin typeface="맑은 고딕"/>
                        </a:rPr>
                        <a:t>브릿지 팀</a:t>
                      </a:r>
                    </a:p>
                  </a:txBody>
                  <a:tcPr marL="72000" marR="72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D4F4A"/>
                          </a:solidFill>
                          <a:latin typeface="맑은 고딕"/>
                        </a:rPr>
                        <a:t>완료</a:t>
                      </a:r>
                    </a:p>
                  </a:txBody>
                  <a:tcPr marL="72000" marR="72000" marT="28800" marB="28800" anchor="ctr">
                    <a:solidFill>
                      <a:srgbClr val="FFFFFF"/>
                    </a:solidFill>
                  </a:tcPr>
                </a:tc>
              </a:tr>
              <a:tr h="22320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11F"/>
                          </a:solidFill>
                          <a:latin typeface="맑은 고딕"/>
                        </a:rPr>
                        <a:t>연동 규격 문서 · 운영자 가이드</a:t>
                      </a:r>
                    </a:p>
                  </a:txBody>
                  <a:tcPr marL="72000" marR="72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11F"/>
                          </a:solidFill>
                          <a:latin typeface="맑은 고딕"/>
                        </a:rPr>
                        <a:t>브릿지 팀</a:t>
                      </a:r>
                    </a:p>
                  </a:txBody>
                  <a:tcPr marL="72000" marR="72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D4F4A"/>
                          </a:solidFill>
                          <a:latin typeface="맑은 고딕"/>
                        </a:rPr>
                        <a:t>완료</a:t>
                      </a:r>
                    </a:p>
                  </a:txBody>
                  <a:tcPr marL="72000" marR="72000" marT="28800" marB="28800" anchor="ctr">
                    <a:solidFill>
                      <a:srgbClr val="FFFFFF"/>
                    </a:solidFill>
                  </a:tcPr>
                </a:tc>
              </a:tr>
              <a:tr h="22320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11F"/>
                          </a:solidFill>
                          <a:latin typeface="맑은 고딕"/>
                        </a:rPr>
                        <a:t>워크리스트 태그 보강 · 문진 전량 탑재</a:t>
                      </a:r>
                    </a:p>
                  </a:txBody>
                  <a:tcPr marL="72000" marR="72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11F"/>
                          </a:solidFill>
                          <a:latin typeface="맑은 고딕"/>
                        </a:rPr>
                        <a:t>브릿지 팀</a:t>
                      </a:r>
                    </a:p>
                  </a:txBody>
                  <a:tcPr marL="72000" marR="72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D4F4A"/>
                          </a:solidFill>
                          <a:latin typeface="맑은 고딕"/>
                        </a:rPr>
                        <a:t>완료</a:t>
                      </a:r>
                    </a:p>
                  </a:txBody>
                  <a:tcPr marL="72000" marR="72000" marT="28800" marB="28800" anchor="ctr">
                    <a:solidFill>
                      <a:srgbClr val="FFFFFF"/>
                    </a:solidFill>
                  </a:tcPr>
                </a:tc>
              </a:tr>
              <a:tr h="22320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11F"/>
                          </a:solidFill>
                          <a:latin typeface="맑은 고딕"/>
                        </a:rPr>
                        <a:t>MPPS SCP 구현</a:t>
                      </a:r>
                    </a:p>
                  </a:txBody>
                  <a:tcPr marL="72000" marR="72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11F"/>
                          </a:solidFill>
                          <a:latin typeface="맑은 고딕"/>
                        </a:rPr>
                        <a:t>브릿지 팀</a:t>
                      </a:r>
                    </a:p>
                  </a:txBody>
                  <a:tcPr marL="72000" marR="72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D4F4A"/>
                          </a:solidFill>
                          <a:latin typeface="맑은 고딕"/>
                        </a:rPr>
                        <a:t>완료</a:t>
                      </a:r>
                    </a:p>
                  </a:txBody>
                  <a:tcPr marL="72000" marR="72000" marT="28800" marB="28800" anchor="ctr">
                    <a:solidFill>
                      <a:srgbClr val="FFFFFF"/>
                    </a:solidFill>
                  </a:tcPr>
                </a:tc>
              </a:tr>
              <a:tr h="22320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11F"/>
                          </a:solidFill>
                          <a:latin typeface="맑은 고딕"/>
                        </a:rPr>
                        <a:t>매뉴얼 · 실사 160건 분석</a:t>
                      </a:r>
                    </a:p>
                  </a:txBody>
                  <a:tcPr marL="72000" marR="72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11F"/>
                          </a:solidFill>
                          <a:latin typeface="맑은 고딕"/>
                        </a:rPr>
                        <a:t>브릿지 팀</a:t>
                      </a:r>
                    </a:p>
                  </a:txBody>
                  <a:tcPr marL="72000" marR="72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D4F4A"/>
                          </a:solidFill>
                          <a:latin typeface="맑은 고딕"/>
                        </a:rPr>
                        <a:t>완료</a:t>
                      </a:r>
                    </a:p>
                  </a:txBody>
                  <a:tcPr marL="72000" marR="72000" marT="28800" marB="28800" anchor="ctr">
                    <a:solidFill>
                      <a:srgbClr val="FFFFFF"/>
                    </a:solidFill>
                  </a:tcPr>
                </a:tc>
              </a:tr>
              <a:tr h="22320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11F"/>
                          </a:solidFill>
                          <a:latin typeface="맑은 고딕"/>
                        </a:rPr>
                        <a:t>MPPS 설정 · 실기 확인</a:t>
                      </a:r>
                    </a:p>
                  </a:txBody>
                  <a:tcPr marL="72000" marR="72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11F"/>
                          </a:solidFill>
                          <a:latin typeface="맑은 고딕"/>
                        </a:rPr>
                        <a:t>MDVizio-X</a:t>
                      </a:r>
                    </a:p>
                  </a:txBody>
                  <a:tcPr marL="72000" marR="72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B0651A"/>
                          </a:solidFill>
                          <a:latin typeface="맑은 고딕"/>
                        </a:rPr>
                        <a:t>오늘</a:t>
                      </a:r>
                    </a:p>
                  </a:txBody>
                  <a:tcPr marL="72000" marR="72000" marT="28800" marB="28800" anchor="ctr">
                    <a:solidFill>
                      <a:srgbClr val="FFFFFF"/>
                    </a:solidFill>
                  </a:tcPr>
                </a:tc>
              </a:tr>
              <a:tr h="22320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11F"/>
                          </a:solidFill>
                          <a:latin typeface="맑은 고딕"/>
                        </a:rPr>
                        <a:t>워크리스트 실조회 검증</a:t>
                      </a:r>
                    </a:p>
                  </a:txBody>
                  <a:tcPr marL="72000" marR="72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11F"/>
                          </a:solidFill>
                          <a:latin typeface="맑은 고딕"/>
                        </a:rPr>
                        <a:t>MDVizio-X</a:t>
                      </a:r>
                    </a:p>
                  </a:txBody>
                  <a:tcPr marL="72000" marR="72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B0651A"/>
                          </a:solidFill>
                          <a:latin typeface="맑은 고딕"/>
                        </a:rPr>
                        <a:t>미착수</a:t>
                      </a:r>
                    </a:p>
                  </a:txBody>
                  <a:tcPr marL="72000" marR="72000" marT="28800" marB="28800" anchor="ctr">
                    <a:solidFill>
                      <a:srgbClr val="FFFFFF"/>
                    </a:solidFill>
                  </a:tcPr>
                </a:tc>
              </a:tr>
              <a:tr h="22320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11F"/>
                          </a:solidFill>
                          <a:latin typeface="맑은 고딕"/>
                        </a:rPr>
                        <a:t>ai.dcm 신원 소실 · AI 임계값</a:t>
                      </a:r>
                    </a:p>
                  </a:txBody>
                  <a:tcPr marL="72000" marR="72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11F"/>
                          </a:solidFill>
                          <a:latin typeface="맑은 고딕"/>
                        </a:rPr>
                        <a:t>AI 담당</a:t>
                      </a:r>
                    </a:p>
                  </a:txBody>
                  <a:tcPr marL="72000" marR="72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B0651A"/>
                          </a:solidFill>
                          <a:latin typeface="맑은 고딕"/>
                        </a:rPr>
                        <a:t>신규</a:t>
                      </a:r>
                    </a:p>
                  </a:txBody>
                  <a:tcPr marL="72000" marR="72000" marT="28800" marB="28800" anchor="ctr">
                    <a:solidFill>
                      <a:srgbClr val="FFFFFF"/>
                    </a:solidFill>
                  </a:tcPr>
                </a:tc>
              </a:tr>
              <a:tr h="22320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11F"/>
                          </a:solidFill>
                          <a:latin typeface="맑은 고딕"/>
                        </a:rPr>
                        <a:t>실물 태블릿 · 포트 확인 · 운영자 교육</a:t>
                      </a:r>
                    </a:p>
                  </a:txBody>
                  <a:tcPr marL="72000" marR="72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11F"/>
                          </a:solidFill>
                          <a:latin typeface="맑은 고딕"/>
                        </a:rPr>
                        <a:t>현장</a:t>
                      </a:r>
                    </a:p>
                  </a:txBody>
                  <a:tcPr marL="72000" marR="72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B0651A"/>
                          </a:solidFill>
                          <a:latin typeface="맑은 고딕"/>
                        </a:rPr>
                        <a:t>준비 중</a:t>
                      </a:r>
                    </a:p>
                  </a:txBody>
                  <a:tcPr marL="72000" marR="72000" marT="28800" marB="28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76000" y="4536000"/>
            <a:ext cx="3560039" cy="1368000"/>
          </a:xfrm>
          <a:prstGeom prst="roundRect">
            <a:avLst>
              <a:gd name="adj" fmla="val 4000"/>
            </a:avLst>
          </a:prstGeom>
          <a:solidFill>
            <a:srgbClr val="E3E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8000" y="4661999"/>
            <a:ext cx="323603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0D4F4A"/>
                </a:solidFill>
                <a:latin typeface="맑은 고딕"/>
              </a:rPr>
              <a:t>오늘 켤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8000" y="4896000"/>
            <a:ext cx="3236039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5A6C6A"/>
                </a:solidFill>
                <a:latin typeface="맑은 고딕"/>
              </a:rPr>
              <a:t>설정 &gt; NETWORK &gt; MPPS에 워크리스트와 같은 주소·포트·AE 입력. 첫 환자에서 상태가 자동으로 넘어가는지 함께 확인.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6039" y="4536000"/>
            <a:ext cx="3560039" cy="1368000"/>
          </a:xfrm>
          <a:prstGeom prst="roundRect">
            <a:avLst>
              <a:gd name="adj" fmla="val 4000"/>
            </a:avLst>
          </a:prstGeom>
          <a:solidFill>
            <a:srgbClr val="EA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78039" y="4661999"/>
            <a:ext cx="323603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0D4F4A"/>
                </a:solidFill>
                <a:latin typeface="맑은 고딕"/>
              </a:rPr>
              <a:t>현장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8039" y="4896000"/>
            <a:ext cx="3236039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5A6C6A"/>
                </a:solidFill>
                <a:latin typeface="맑은 고딕"/>
              </a:rPr>
              <a:t>스터디당 72MB · 150명이면 하루 10.8GB. PACS 서버 PC를 들고 다니지만 네트워크 문제로 못 쓰는 날이 잦아, 그런 날은 전부 랩톱에 쌓임.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6078" y="4536000"/>
            <a:ext cx="3560039" cy="1368000"/>
          </a:xfrm>
          <a:prstGeom prst="roundRect">
            <a:avLst>
              <a:gd name="adj" fmla="val 4000"/>
            </a:avLst>
          </a:prstGeom>
          <a:solidFill>
            <a:srgbClr val="F7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8078" y="4661999"/>
            <a:ext cx="323603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B0651A"/>
                </a:solidFill>
                <a:latin typeface="맑은 고딕"/>
              </a:rPr>
              <a:t>별도 이슈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8078" y="4896000"/>
            <a:ext cx="3236039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5A6C6A"/>
                </a:solidFill>
                <a:latin typeface="맑은 고딕"/>
              </a:rPr>
              <a:t>실사 160건에서 AI 파이프라인 문제 3건 확인. 연동 안건이 아니라 별건이라 문서로 정리해 뒀음 — docs/field-data-findings.md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00" y="6048000"/>
            <a:ext cx="110401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5A6C6A"/>
                </a:solidFill>
                <a:latin typeface="맑은 고딕"/>
              </a:rPr>
              <a:t>문진 수집만 놓고 보면 파일럿은 즉시 가능. 상세 규격은 docs/integration-spec.md 참조.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